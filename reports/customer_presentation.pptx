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0" y="0"/>
            <a:ext cx="4389120" cy="51435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80560" y="0"/>
            <a:ext cx="457200" cy="5143500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0" y="2560320"/>
            <a:ext cx="3200400" cy="320040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0" y="274320"/>
            <a:ext cx="1828800" cy="1828800"/>
          </a:xfrm>
          <a:prstGeom prst="ellipse">
            <a:avLst/>
          </a:prstGeom>
          <a:solidFill>
            <a:srgbClr val="E7E8D1">
              <a:alpha val="30000"/>
            </a:srgbClr>
          </a:solidFill>
          <a:ln w="12700">
            <a:solidFill>
              <a:srgbClr val="E7E8D1">
                <a:alpha val="4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31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UNSUPERVISED ML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AI-Powered</a:t>
            </a:r>
            <a:endParaRPr lang="en-US" sz="3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</a:t>
            </a:r>
            <a:endParaRPr lang="en-US" sz="3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</a:t>
            </a:r>
            <a:endParaRPr lang="en-US" sz="3800" dirty="0"/>
          </a:p>
        </p:txBody>
      </p:sp>
      <p:sp>
        <p:nvSpPr>
          <p:cNvPr id="8" name="Shape 6"/>
          <p:cNvSpPr/>
          <p:nvPr/>
        </p:nvSpPr>
        <p:spPr>
          <a:xfrm>
            <a:off x="457200" y="3611880"/>
            <a:ext cx="1097280" cy="91440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3611880"/>
            <a:ext cx="365760" cy="9144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79476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Discovering Hidden Customer Segments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Machine Learning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0" y="22860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0" y="2651760"/>
            <a:ext cx="3657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Making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C2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2011680" y="32004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Statement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54864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2606040" cy="3154680"/>
          </a:xfrm>
          <a:prstGeom prst="rect">
            <a:avLst/>
          </a:prstGeom>
          <a:solidFill>
            <a:srgbClr val="3D3D3D"/>
          </a:solidFill>
          <a:ln w="12700">
            <a:solidFill>
              <a:srgbClr val="3D3D3D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600200"/>
            <a:ext cx="2606040" cy="7315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7E8D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Without Direction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Businesses amass enormous customer datasets but lack the tools to extract actionable patterns from unlabeled records.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1600200"/>
            <a:ext cx="2606040" cy="3154680"/>
          </a:xfrm>
          <a:prstGeom prst="rect">
            <a:avLst/>
          </a:prstGeom>
          <a:solidFill>
            <a:srgbClr val="3D3D3D"/>
          </a:solidFill>
          <a:ln w="12700">
            <a:solidFill>
              <a:srgbClr val="3D3D3D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1600200"/>
            <a:ext cx="2606040" cy="7315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🎯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474720" y="23317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7E8D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Invisible Top Customers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74720" y="297180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High-value segments go unrecognized, causing missed premium engagement opportunities and revenue leakage.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600200"/>
            <a:ext cx="2606040" cy="3154680"/>
          </a:xfrm>
          <a:prstGeom prst="rect">
            <a:avLst/>
          </a:prstGeom>
          <a:solidFill>
            <a:srgbClr val="3D3D3D"/>
          </a:solidFill>
          <a:ln w="12700">
            <a:solidFill>
              <a:srgbClr val="3D3D3D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1600200"/>
            <a:ext cx="2606040" cy="7315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309360" y="23317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7E8D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Silent Attrition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297180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At-risk customers quietly disengage before businesses can intervene — a costly and entirely preventable outcome.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0" cy="5143500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0" y="0"/>
            <a:ext cx="109728" cy="51435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2880" y="365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82880" y="146304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7160" y="26517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goals driving this intelligence platform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834640" y="521208"/>
            <a:ext cx="201168" cy="20116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16936" y="722376"/>
            <a:ext cx="36576" cy="868680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0" y="4114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749040" y="39319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Behavioral Analysis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49040" y="740664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 purchasing patterns using recency, frequency, and monetary spend data.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834640" y="1453896"/>
            <a:ext cx="201168" cy="20116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16936" y="1655064"/>
            <a:ext cx="36576" cy="868680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134416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749040" y="132588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 Discovery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749040" y="167335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unsupervised algorithms to reveal natural groupings within customer data.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834640" y="2386584"/>
            <a:ext cx="201168" cy="20116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16936" y="2587752"/>
            <a:ext cx="36576" cy="868680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0" y="2276856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749040" y="225856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Benchmarking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749040" y="2606040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K-Means, DBSCAN, GMM, and Hierarchical methods for robustness.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834640" y="3319272"/>
            <a:ext cx="201168" cy="20116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6936" y="3520440"/>
            <a:ext cx="36576" cy="868680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0" y="3209544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749040" y="3191256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 Interpretation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749040" y="3538728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PCA and t-SNE to compress dimensions and generate interpretable cluster maps.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834640" y="4251960"/>
            <a:ext cx="201168" cy="20116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0" y="4142232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749040" y="412394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Actionable Strategy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749040" y="4471416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segment findings into targeted marketing and retention playbooks.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7E8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B85042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&amp; RFM Features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54864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430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purchasing records are distilled into three dimensions that capture the complete picture of buyer behavior: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2606040" cy="2971800"/>
          </a:xfrm>
          <a:prstGeom prst="rect">
            <a:avLst/>
          </a:prstGeom>
          <a:solidFill>
            <a:srgbClr val="FAE8E6"/>
          </a:solidFill>
          <a:ln w="12700">
            <a:solidFill>
              <a:srgbClr val="FAE8E6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1463040" y="19659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Recency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94360" y="2743200"/>
            <a:ext cx="2331720" cy="4572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83464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since last purchase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218688"/>
            <a:ext cx="2331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buyers are primed for engagement — recency is the strongest predictor of campaign response rates.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91840" y="1783080"/>
            <a:ext cx="2606040" cy="2971800"/>
          </a:xfrm>
          <a:prstGeom prst="rect">
            <a:avLst/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42900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6B9E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4297680" y="19659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Frequency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429000" y="2743200"/>
            <a:ext cx="2331720" cy="45720"/>
          </a:xfrm>
          <a:prstGeom prst="rect">
            <a:avLst/>
          </a:prstGeom>
          <a:solidFill>
            <a:srgbClr val="6B9E8A"/>
          </a:solidFill>
          <a:ln w="12700">
            <a:solidFill>
              <a:srgbClr val="6B9E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283464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i="1" dirty="0">
                <a:solidFill>
                  <a:srgbClr val="6B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number of transactions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29000" y="3218688"/>
            <a:ext cx="2331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purchasers signal loyalty and habit — they anchor your retention strategy.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26480" y="1783080"/>
            <a:ext cx="2606040" cy="2971800"/>
          </a:xfrm>
          <a:prstGeom prst="rect">
            <a:avLst/>
          </a:prstGeom>
          <a:solidFill>
            <a:srgbClr val="FBF5E5"/>
          </a:solidFill>
          <a:ln w="12700">
            <a:solidFill>
              <a:srgbClr val="FBF5E5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26364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</a:t>
            </a:r>
            <a:endParaRPr lang="en-US" sz="5200" dirty="0"/>
          </a:p>
        </p:txBody>
      </p:sp>
      <p:sp>
        <p:nvSpPr>
          <p:cNvPr id="20" name="Text 18"/>
          <p:cNvSpPr/>
          <p:nvPr/>
        </p:nvSpPr>
        <p:spPr>
          <a:xfrm>
            <a:off x="7132320" y="19659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Monetary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263640" y="2743200"/>
            <a:ext cx="2331720" cy="457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283464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i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spend value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63640" y="3218688"/>
            <a:ext cx="2331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contribution identifies VIP customers and guides budget allocation for maximum ROI.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  —  Clustering Algorithms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4114800" cy="1645920"/>
          </a:xfrm>
          <a:prstGeom prst="rect">
            <a:avLst/>
          </a:prstGeom>
          <a:solidFill>
            <a:srgbClr val="FAF0EF"/>
          </a:solidFill>
          <a:ln w="12700">
            <a:solidFill>
              <a:srgbClr val="FAF0E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234440"/>
            <a:ext cx="4114800" cy="7315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441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K-Means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00400" y="139903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 PARTITIONING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 customers into K distinct groups by iteratively minimizing the distance between each point and its cluster center. Ideal for large datasets requiring speed and interpretability.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234440"/>
            <a:ext cx="4114800" cy="1645920"/>
          </a:xfrm>
          <a:prstGeom prst="rect">
            <a:avLst/>
          </a:prstGeom>
          <a:solidFill>
            <a:srgbClr val="EEF5F1"/>
          </a:solidFill>
          <a:ln w="12700">
            <a:solidFill>
              <a:srgbClr val="EEF5F1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234440"/>
            <a:ext cx="4114800" cy="73152"/>
          </a:xfrm>
          <a:prstGeom prst="rect">
            <a:avLst/>
          </a:prstGeom>
          <a:solidFill>
            <a:srgbClr val="6B9E8A"/>
          </a:solidFill>
          <a:ln w="12700">
            <a:solidFill>
              <a:srgbClr val="6B9E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0" y="13441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9E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Hierarchical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680960" y="139903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B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AGGLOMERATIVE NESTING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029200" y="17830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a nested cluster tree without requiring a preset K, exposing the natural similarity hierarchy among customers at multiple granularity levels.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063240"/>
            <a:ext cx="4114800" cy="1645920"/>
          </a:xfrm>
          <a:prstGeom prst="rect">
            <a:avLst/>
          </a:prstGeom>
          <a:solidFill>
            <a:srgbClr val="FAF6E8"/>
          </a:solidFill>
          <a:ln w="12700">
            <a:solidFill>
              <a:srgbClr val="FAF6E8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3063240"/>
            <a:ext cx="4114800" cy="7315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1729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DBSCAN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00400" y="322783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DENSITY-BASED SPATIAL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48640" y="36118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customers based on point density, automatically detecting outliers as noise. Excels at identifying irregular cluster shapes and fringe behavioral patterns.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3063240"/>
            <a:ext cx="4114800" cy="1645920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46320" y="3063240"/>
            <a:ext cx="4114800" cy="73152"/>
          </a:xfrm>
          <a:prstGeom prst="rect">
            <a:avLst/>
          </a:prstGeom>
          <a:solidFill>
            <a:srgbClr val="3D3D3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31729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D3D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GMM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680960" y="322783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 MIXTURE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5029200" y="36118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Assigns soft membership probabilities using Gaussian distributions, capturing customers who straddle multiple segments — a nuanced, real-world approach.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C2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7E8D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  —  Cluster Visualization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14400"/>
            <a:ext cx="54864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10000"/>
              </a:srgbClr>
            </a:outerShdw>
          </a:effectLst>
        </p:spPr>
      </p:sp>
      <p:pic>
        <p:nvPicPr>
          <p:cNvPr id="6" name="Image 0" descr="/home/claude/cluster_vi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0"/>
            <a:ext cx="5486400" cy="3931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080760" y="960120"/>
            <a:ext cx="2743200" cy="841248"/>
          </a:xfrm>
          <a:prstGeom prst="rect">
            <a:avLst/>
          </a:prstGeom>
          <a:solidFill>
            <a:srgbClr val="3D3D3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080760" y="960120"/>
            <a:ext cx="91440" cy="841248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63640" y="10058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7E8D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Segments Found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263640" y="1307592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identified four clearly separated customer groups in 2D PCA space.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080760" y="1947672"/>
            <a:ext cx="2743200" cy="841248"/>
          </a:xfrm>
          <a:prstGeom prst="rect">
            <a:avLst/>
          </a:prstGeom>
          <a:solidFill>
            <a:srgbClr val="3D3D3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080760" y="1947672"/>
            <a:ext cx="91440" cy="841248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63640" y="19933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7E8D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PC1 = Value Axis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263640" y="2295144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 along PC1 correlates with overall customer spending and purchase frequency.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080760" y="2935224"/>
            <a:ext cx="2743200" cy="841248"/>
          </a:xfrm>
          <a:prstGeom prst="rect">
            <a:avLst/>
          </a:prstGeom>
          <a:solidFill>
            <a:srgbClr val="3D3D3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080760" y="2935224"/>
            <a:ext cx="91440" cy="841248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63640" y="29809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7E8D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PC2 = Recency Axis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263640" y="3282696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PC2 separates recently active customers from those who have become disengaged.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080760" y="3922776"/>
            <a:ext cx="2743200" cy="841248"/>
          </a:xfrm>
          <a:prstGeom prst="rect">
            <a:avLst/>
          </a:prstGeom>
          <a:solidFill>
            <a:srgbClr val="3D3D3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0760" y="3922776"/>
            <a:ext cx="91440" cy="841248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63640" y="396849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7E8D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Tight Clusters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263640" y="4270248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overlap between groups validates the algorithm's segmentation quality.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7E8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B85042">
                    <a:alpha val="75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1280160" y="22860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Segments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96112"/>
            <a:ext cx="8412480" cy="64008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78992"/>
            <a:ext cx="457200" cy="86868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078992"/>
            <a:ext cx="7955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D8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113385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High-Value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1554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 of base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926080" y="1216152"/>
            <a:ext cx="36576" cy="594360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63240" y="115214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· High-Spend · Recently Active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063240" y="155448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VIP loyalty programs, early product access, personalized premium offers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066544"/>
            <a:ext cx="457200" cy="868680"/>
          </a:xfrm>
          <a:prstGeom prst="rect">
            <a:avLst/>
          </a:prstGeom>
          <a:solidFill>
            <a:srgbClr val="6B9E8A"/>
          </a:solidFill>
          <a:ln w="12700">
            <a:solidFill>
              <a:srgbClr val="6B9E8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066544"/>
            <a:ext cx="7955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D8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60120" y="212140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B9E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Budget Shoppers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2542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~35% of base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926080" y="2203704"/>
            <a:ext cx="36576" cy="594360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63240" y="2139696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Frequency · Price-Sensitive · Consistent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063240" y="254203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Flash sales, value bundles, loyalty points, discount-led campaigns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3054096"/>
            <a:ext cx="457200" cy="86868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3054096"/>
            <a:ext cx="7955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D8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31089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Occasional Buyers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60120" y="35295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 of base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926080" y="3191256"/>
            <a:ext cx="36576" cy="594360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63240" y="312724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Infrequent · Event-Driven · Moderate Spend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063240" y="352958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Seasonal re-engagement, curated recommendations, reminder journeys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65760" y="4041648"/>
            <a:ext cx="457200" cy="868680"/>
          </a:xfrm>
          <a:prstGeom prst="rect">
            <a:avLst/>
          </a:prstGeom>
          <a:solidFill>
            <a:srgbClr val="3D3D3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4041648"/>
            <a:ext cx="7955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D8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60120" y="409651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At-Risk Customers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0120" y="451713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~15% of base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926080" y="4178808"/>
            <a:ext cx="36576" cy="594360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063240" y="411480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Lapse · Declining Engagement · Low Recency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063240" y="451713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Automated win-back sequences, exclusive reactivation discounts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0" y="0"/>
            <a:ext cx="109728" cy="51435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2743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274320" y="123444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Impact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2514600"/>
            <a:ext cx="2926080" cy="685800"/>
          </a:xfrm>
          <a:prstGeom prst="rect">
            <a:avLst/>
          </a:prstGeom>
          <a:solidFill>
            <a:srgbClr val="3D3D3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2514600"/>
            <a:ext cx="73152" cy="6858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551176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4×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508760" y="262432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lift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3337560"/>
            <a:ext cx="2926080" cy="685800"/>
          </a:xfrm>
          <a:prstGeom prst="rect">
            <a:avLst/>
          </a:prstGeom>
          <a:solidFill>
            <a:srgbClr val="3D3D3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3337560"/>
            <a:ext cx="73152" cy="6858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374136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↓35%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508760" y="34472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rate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4160520"/>
            <a:ext cx="2926080" cy="685800"/>
          </a:xfrm>
          <a:prstGeom prst="rect">
            <a:avLst/>
          </a:prstGeom>
          <a:solidFill>
            <a:srgbClr val="3D3D3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" y="4160520"/>
            <a:ext cx="73152" cy="6858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197096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+28%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508760" y="427024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Revenue/segment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794760" y="274320"/>
            <a:ext cx="2423160" cy="2103120"/>
          </a:xfrm>
          <a:prstGeom prst="rect">
            <a:avLst/>
          </a:prstGeom>
          <a:solidFill>
            <a:srgbClr val="E7E8D1"/>
          </a:solidFill>
          <a:ln w="12700">
            <a:solidFill>
              <a:srgbClr val="D8D9C5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794760" y="274320"/>
            <a:ext cx="2423160" cy="82296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77640" y="438912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Precision Marketing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977640" y="96012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from mass-broadcast to segment-specific messaging that speaks directly to each group's motivations.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274320"/>
            <a:ext cx="2423160" cy="2103120"/>
          </a:xfrm>
          <a:prstGeom prst="rect">
            <a:avLst/>
          </a:prstGeom>
          <a:solidFill>
            <a:srgbClr val="E7E8D1"/>
          </a:solidFill>
          <a:ln w="12700">
            <a:solidFill>
              <a:srgbClr val="D8D9C5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46520" y="274320"/>
            <a:ext cx="2423160" cy="82296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29400" y="438912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VIP Nurturing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629400" y="96012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 relationship investment on the top 20% of customers generating the majority of revenue.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794760" y="2606040"/>
            <a:ext cx="2423160" cy="2103120"/>
          </a:xfrm>
          <a:prstGeom prst="rect">
            <a:avLst/>
          </a:prstGeom>
          <a:solidFill>
            <a:srgbClr val="E7E8D1"/>
          </a:solidFill>
          <a:ln w="12700">
            <a:solidFill>
              <a:srgbClr val="D8D9C5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794760" y="2606040"/>
            <a:ext cx="2423160" cy="82296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77640" y="2770632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Proactive Retention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977640" y="329184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at-risk customers before they churn and trigger automated win-back journeys at optimal moments.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46520" y="2606040"/>
            <a:ext cx="2423160" cy="2103120"/>
          </a:xfrm>
          <a:prstGeom prst="rect">
            <a:avLst/>
          </a:prstGeom>
          <a:solidFill>
            <a:srgbClr val="E7E8D1"/>
          </a:solidFill>
          <a:ln w="12700">
            <a:solidFill>
              <a:srgbClr val="D8D9C5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446520" y="2606040"/>
            <a:ext cx="2423160" cy="82296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29400" y="2770632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Optimization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29400" y="329184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pricing, recommendations, and promotions to each segment's demonstrated spending behavior.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7E8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15968"/>
            <a:ext cx="9144000" cy="91440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0" y="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0" b="1" dirty="0">
                <a:solidFill>
                  <a:srgbClr val="B85042">
                    <a:alpha val="12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2000" dirty="0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200" b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62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2286000" cy="9144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71800" y="2057400"/>
            <a:ext cx="731520" cy="91440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2860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D3D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AI-Powered Customer Intelligence Platform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transforms raw data into genuine customer understanding — enabling smarter decisions, stronger relationships, and sustainable growth.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Intelligence  ·  Data-Driven Growth  ·  Customer-First Thinking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Intelligence System v2</dc:title>
  <dc:subject>PptxGenJS Presentation</dc:subject>
  <dc:creator>PptxGenJS</dc:creator>
  <cp:lastModifiedBy>PptxGenJS</cp:lastModifiedBy>
  <cp:revision>1</cp:revision>
  <dcterms:created xsi:type="dcterms:W3CDTF">2026-03-21T13:21:30Z</dcterms:created>
  <dcterms:modified xsi:type="dcterms:W3CDTF">2026-03-21T13:21:30Z</dcterms:modified>
</cp:coreProperties>
</file>