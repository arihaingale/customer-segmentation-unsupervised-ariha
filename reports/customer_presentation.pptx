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5975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480560" y="0"/>
            <a:ext cx="457200" cy="514350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2560320"/>
            <a:ext cx="3200400" cy="32004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74320"/>
            <a:ext cx="1828800" cy="1828800"/>
          </a:xfrm>
          <a:prstGeom prst="ellipse">
            <a:avLst/>
          </a:prstGeom>
          <a:solidFill>
            <a:srgbClr val="E7E8D1">
              <a:alpha val="30000"/>
            </a:srgbClr>
          </a:solidFill>
          <a:ln w="12700">
            <a:solidFill>
              <a:srgbClr val="E7E8D1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31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</a:t>
            </a:r>
            <a:endParaRPr lang="en-US" sz="3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</a:t>
            </a:r>
            <a:endParaRPr lang="en-US" sz="3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457200" y="3611880"/>
            <a:ext cx="1097280" cy="9144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3611880"/>
            <a:ext cx="365760" cy="91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7947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Discovering Hidden Customer Segments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Machine Learning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6517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Making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011680" y="3200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48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00200"/>
            <a:ext cx="2606040" cy="315468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00200"/>
            <a:ext cx="260604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Without Direction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amass enormous customer datasets but lack the tools to extract actionable patterns from unlabeled records.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600200"/>
            <a:ext cx="2606040" cy="315468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600200"/>
            <a:ext cx="260604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74720" y="23317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Invisible Top Customers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297180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segments go unrecognized, causing missed premium engagement opportunities and revenue leakage.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600200"/>
            <a:ext cx="2606040" cy="315468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600200"/>
            <a:ext cx="260604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09360" y="23317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Silent Attrition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297180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customers quietly disengage before businesses can intervene — a costly and entirely preventable outcome.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0" y="0"/>
            <a:ext cx="109728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3657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82880" y="14630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" y="2651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goals driving this intelligence platform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34640" y="521208"/>
            <a:ext cx="201168" cy="20116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16936" y="722376"/>
            <a:ext cx="36576" cy="86868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4114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49040" y="3931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Behavioral Analysis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49040" y="74066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purchasing patterns using recency, frequency, and monetary spend data.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34640" y="1453896"/>
            <a:ext cx="201168" cy="20116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16936" y="1655064"/>
            <a:ext cx="36576" cy="86868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3441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49040" y="13258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Discovery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49040" y="167335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unsupervised algorithms to reveal natural groupings within customer data.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834640" y="2386584"/>
            <a:ext cx="201168" cy="20116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16936" y="2587752"/>
            <a:ext cx="36576" cy="86868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227685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49040" y="22585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Benchmarking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49040" y="260604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K-Means, DBSCAN, GMM, and Hierarchical methods for robustness.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834640" y="3319272"/>
            <a:ext cx="201168" cy="20116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16936" y="3520440"/>
            <a:ext cx="36576" cy="86868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320954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749040" y="319125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Interpretation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749040" y="3538728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PCA and t-SNE to compress dimensions and generate interpretable cluster maps.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834640" y="4251960"/>
            <a:ext cx="201168" cy="20116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414223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749040" y="412394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Actionable Strategy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749040" y="4471416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segment findings into targeted marketing and retention playbooks.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7E8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B85042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RFM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48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purchasing records are distilled into three dimensions that capture the complete picture of buyer behavior: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06040" cy="2971800"/>
          </a:xfrm>
          <a:prstGeom prst="rect">
            <a:avLst/>
          </a:prstGeom>
          <a:solidFill>
            <a:srgbClr val="FAE8E6"/>
          </a:solidFill>
          <a:ln w="12700">
            <a:solidFill>
              <a:srgbClr val="FAE8E6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463040" y="19659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Recency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" y="2743200"/>
            <a:ext cx="2331720" cy="45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8346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purchase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218688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buyers are primed for engagement — recency is the strongest predictor of campaign response rates.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1783080"/>
            <a:ext cx="2606040" cy="2971800"/>
          </a:xfrm>
          <a:prstGeom prst="rect">
            <a:avLst/>
          </a:prstGeom>
          <a:solidFill>
            <a:srgbClr val="E8F2EE"/>
          </a:solidFill>
          <a:ln w="12700">
            <a:solidFill>
              <a:srgbClr val="E8F2EE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2900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6B9E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4297680" y="19659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Frequency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429000" y="2743200"/>
            <a:ext cx="2331720" cy="45720"/>
          </a:xfrm>
          <a:prstGeom prst="rect">
            <a:avLst/>
          </a:prstGeom>
          <a:solidFill>
            <a:srgbClr val="6B9E8A"/>
          </a:solidFill>
          <a:ln w="12700">
            <a:solidFill>
              <a:srgbClr val="6B9E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28346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6B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transactions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3218688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purchasers signal loyalty and habit — they anchor your retention strategy.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1783080"/>
            <a:ext cx="2606040" cy="2971800"/>
          </a:xfrm>
          <a:prstGeom prst="rect">
            <a:avLst/>
          </a:prstGeom>
          <a:solidFill>
            <a:srgbClr val="FBF5E5"/>
          </a:solidFill>
          <a:ln w="12700">
            <a:solidFill>
              <a:srgbClr val="FBF5E5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6364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7132320" y="19659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Monetary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263640" y="2743200"/>
            <a:ext cx="233172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28346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spend value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3640" y="3218688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contribution identifies VIP customers and guides budget allocation for maximum ROI.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—  Clustering Algorithms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1645920"/>
          </a:xfrm>
          <a:prstGeom prst="rect">
            <a:avLst/>
          </a:prstGeom>
          <a:solidFill>
            <a:srgbClr val="FAF0EF"/>
          </a:solidFill>
          <a:ln w="12700">
            <a:solidFill>
              <a:srgbClr val="FAF0EF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411480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44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K-Means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0" y="13990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PARTITIONING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customers into K distinct groups by iteratively minimizing the distance between each point and its cluster center. Ideal for large datasets requiring speed and interpretability.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234440"/>
            <a:ext cx="4114800" cy="1645920"/>
          </a:xfrm>
          <a:prstGeom prst="rect">
            <a:avLst/>
          </a:prstGeom>
          <a:solidFill>
            <a:srgbClr val="EEF5F1"/>
          </a:solidFill>
          <a:ln w="12700">
            <a:solidFill>
              <a:srgbClr val="EEF5F1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34440"/>
            <a:ext cx="4114800" cy="73152"/>
          </a:xfrm>
          <a:prstGeom prst="rect">
            <a:avLst/>
          </a:prstGeom>
          <a:solidFill>
            <a:srgbClr val="6B9E8A"/>
          </a:solidFill>
          <a:ln w="12700">
            <a:solidFill>
              <a:srgbClr val="6B9E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344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B9E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Hierarchical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80960" y="13990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kern="0" spc="100" dirty="0">
                <a:solidFill>
                  <a:srgbClr val="6B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AGGLOMERATIVE NESTING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029200" y="17830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nested cluster tree without requiring a preset K, exposing the natural similarity hierarchy among customers at multiple granularity levels.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114800" cy="1645920"/>
          </a:xfrm>
          <a:prstGeom prst="rect">
            <a:avLst/>
          </a:prstGeom>
          <a:solidFill>
            <a:srgbClr val="FAF6E8"/>
          </a:solidFill>
          <a:ln w="12700">
            <a:solidFill>
              <a:srgbClr val="FAF6E8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63240"/>
            <a:ext cx="41148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729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DBSCAN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00400" y="32278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kern="0" spc="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 SPATIAL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48640" y="36118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customers based on point density, automatically detecting outliers as noise. Excels at identifying irregular cluster shapes and fringe behavioral patterns.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063240"/>
            <a:ext cx="4114800" cy="164592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3063240"/>
            <a:ext cx="4114800" cy="73152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1729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GMM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80960" y="32278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kern="0" spc="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MIXTURE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029200" y="36118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soft membership probabilities using Gaussian distributions, capturing customers who straddle multiple segments — a nuanced, real-world approach.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 —  Cluster Visualization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5486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80760" y="960120"/>
            <a:ext cx="2743200" cy="841248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80760" y="960120"/>
            <a:ext cx="91440" cy="84124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63640" y="10058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Segments Found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63640" y="13075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identified four clearly separated customer groups in 2D PCA space.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080760" y="1947672"/>
            <a:ext cx="2743200" cy="841248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80760" y="1947672"/>
            <a:ext cx="91440" cy="84124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63640" y="19933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PC1 = Value Axis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263640" y="229514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along PC1 correlates with overall customer spending and purchase frequency.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80760" y="2935224"/>
            <a:ext cx="2743200" cy="841248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80760" y="2935224"/>
            <a:ext cx="91440" cy="84124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63640" y="29809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PC2 = Recency Axis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263640" y="328269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 separates recently active customers from those who have become disengaged.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080760" y="3922776"/>
            <a:ext cx="2743200" cy="841248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80760" y="3922776"/>
            <a:ext cx="91440" cy="84124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63640" y="396849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Tight Clusters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263640" y="427024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overlap between groups validates the algorithm's segmentation quality.</a:t>
            </a:r>
            <a:endParaRPr lang="en-US" sz="9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BFD26CB-D96E-9A0A-8434-938962F76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655" y="907065"/>
            <a:ext cx="5525225" cy="39465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7E8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B85042">
                    <a:alpha val="7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280160" y="2286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Segments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64008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78992"/>
            <a:ext cx="457200" cy="8686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078992"/>
            <a:ext cx="7955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D8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13385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High-Value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554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of base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26080" y="1216152"/>
            <a:ext cx="36576" cy="59436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115214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· High-Spend · Recently Active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063240" y="15544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VIP loyalty programs, early product access, personalized premium offers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066544"/>
            <a:ext cx="457200" cy="868680"/>
          </a:xfrm>
          <a:prstGeom prst="rect">
            <a:avLst/>
          </a:prstGeom>
          <a:solidFill>
            <a:srgbClr val="6B9E8A"/>
          </a:solidFill>
          <a:ln w="12700">
            <a:solidFill>
              <a:srgbClr val="6B9E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066544"/>
            <a:ext cx="7955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D8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21214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B9E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Shoppers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2542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~35% of base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0" y="2203704"/>
            <a:ext cx="36576" cy="59436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21396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Frequency · Price-Sensitive · Consistent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63240" y="254203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Flash sales, value bundles, loyalty points, discount-led campaigns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054096"/>
            <a:ext cx="457200" cy="8686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054096"/>
            <a:ext cx="7955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D8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3108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Occasional Buyers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0120" y="35295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 of base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926080" y="3191256"/>
            <a:ext cx="36576" cy="59436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63240" y="31272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Infrequent · Event-Driven · Moderate Spend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063240" y="352958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Seasonal re-engagement, curated recommendations, reminder journeys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041648"/>
            <a:ext cx="457200" cy="86868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4041648"/>
            <a:ext cx="79552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D8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60120" y="40965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At-Risk Customers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0120" y="45171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 of base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926080" y="4178808"/>
            <a:ext cx="36576" cy="59436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63240" y="41148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Lapse · Declining Engagement · Low Recency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063240" y="451713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Automated win-back sequences, exclusive reactivation discounts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109728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2514600"/>
            <a:ext cx="2926080" cy="68580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514600"/>
            <a:ext cx="73152" cy="6858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5117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4×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08760" y="262432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lift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337560"/>
            <a:ext cx="2926080" cy="68580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3337560"/>
            <a:ext cx="73152" cy="6858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37413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↓35%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08760" y="344728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4160520"/>
            <a:ext cx="2926080" cy="68580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4160520"/>
            <a:ext cx="73152" cy="6858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19709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+28%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08760" y="42702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Revenue/segment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94760" y="274320"/>
            <a:ext cx="2423160" cy="2103120"/>
          </a:xfrm>
          <a:prstGeom prst="rect">
            <a:avLst/>
          </a:prstGeom>
          <a:solidFill>
            <a:srgbClr val="E7E8D1"/>
          </a:solidFill>
          <a:ln w="12700">
            <a:solidFill>
              <a:srgbClr val="D8D9C5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94760" y="274320"/>
            <a:ext cx="2423160" cy="8229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43891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 Marketing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77640" y="96012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from mass-broadcast to segment-specific messaging that speaks directly to each group's motivations.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274320"/>
            <a:ext cx="2423160" cy="2103120"/>
          </a:xfrm>
          <a:prstGeom prst="rect">
            <a:avLst/>
          </a:prstGeom>
          <a:solidFill>
            <a:srgbClr val="E7E8D1"/>
          </a:solidFill>
          <a:ln w="12700">
            <a:solidFill>
              <a:srgbClr val="D8D9C5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274320"/>
            <a:ext cx="2423160" cy="8229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43891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VIP Nurturing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9400" y="96012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relationship investment on the top 20% of customers generating the majority of revenue.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94760" y="2606040"/>
            <a:ext cx="2423160" cy="2103120"/>
          </a:xfrm>
          <a:prstGeom prst="rect">
            <a:avLst/>
          </a:prstGeom>
          <a:solidFill>
            <a:srgbClr val="E7E8D1"/>
          </a:solidFill>
          <a:ln w="12700">
            <a:solidFill>
              <a:srgbClr val="D8D9C5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94760" y="2606040"/>
            <a:ext cx="2423160" cy="8229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77640" y="277063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Proactive Retention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77640" y="329184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at-risk customers before they churn and trigger automated win-back journeys at optimal moments.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46520" y="2606040"/>
            <a:ext cx="2423160" cy="2103120"/>
          </a:xfrm>
          <a:prstGeom prst="rect">
            <a:avLst/>
          </a:prstGeom>
          <a:solidFill>
            <a:srgbClr val="E7E8D1"/>
          </a:solidFill>
          <a:ln w="12700">
            <a:solidFill>
              <a:srgbClr val="D8D9C5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46520" y="2606040"/>
            <a:ext cx="2423160" cy="8229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2770632"/>
            <a:ext cx="2057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Optimization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29400" y="329184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pricing, recommendations, and promotions to each segment's demonstrated spending behavior.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7E8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15968"/>
            <a:ext cx="9144000" cy="9144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0" y="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B85042">
                    <a:alpha val="1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200" b="1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2286000" cy="91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2057400"/>
            <a:ext cx="731520" cy="9144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D3D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Customer Intelligence Platform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transforms raw data into genuine customer understanding — enabling smarter decisions, stronger relationships, and sustainable growth.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Intelligence  ·  Data-Driven Growth  ·  Customer-First Thinking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644</Words>
  <Application>Microsoft Office PowerPoint</Application>
  <PresentationFormat>On-screen Show (16:9)</PresentationFormat>
  <Paragraphs>127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Intelligence System v2</dc:title>
  <dc:subject>PptxGenJS Presentation</dc:subject>
  <dc:creator>PptxGenJS</dc:creator>
  <cp:lastModifiedBy>Sujay ingale</cp:lastModifiedBy>
  <cp:revision>2</cp:revision>
  <dcterms:created xsi:type="dcterms:W3CDTF">2026-03-21T13:21:30Z</dcterms:created>
  <dcterms:modified xsi:type="dcterms:W3CDTF">2026-03-24T17:27:39Z</dcterms:modified>
</cp:coreProperties>
</file>